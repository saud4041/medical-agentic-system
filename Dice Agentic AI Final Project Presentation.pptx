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61" r:id="rId5"/>
    <p:sldId id="266" r:id="rId6"/>
    <p:sldId id="303" r:id="rId7"/>
    <p:sldId id="305" r:id="rId8"/>
    <p:sldId id="304" r:id="rId9"/>
    <p:sldId id="306" r:id="rId10"/>
    <p:sldId id="307" r:id="rId11"/>
    <p:sldId id="301" r:id="rId12"/>
    <p:sldId id="265" r:id="rId13"/>
    <p:sldId id="264" r:id="rId14"/>
    <p:sldId id="308" r:id="rId15"/>
    <p:sldId id="302" r:id="rId16"/>
    <p:sldId id="310" r:id="rId17"/>
    <p:sldId id="309" r:id="rId1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44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0" y="56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04048" y="3003798"/>
            <a:ext cx="3888432" cy="1152129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3600" b="1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+mn-ea"/>
              </a:rPr>
              <a:t>FREE PPT TEMPLATES</a:t>
            </a:r>
            <a:endParaRPr lang="en-US" altLang="ko-KR" b="1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003900" y="4155926"/>
            <a:ext cx="3888432" cy="50405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sz="1200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200" b="1" dirty="0"/>
              <a:t>OF YOUR PRESENTATION HERE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363838"/>
            <a:ext cx="9144000" cy="144016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8748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3555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rgbClr val="44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4059"/>
            <a:ext cx="3856106" cy="513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53958"/>
            <a:ext cx="640871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979712" y="153958"/>
            <a:ext cx="698477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0292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50341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28205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03764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3836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91952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501681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887924" y="1089585"/>
            <a:ext cx="1368152" cy="1482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00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1907704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1880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076056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99209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4183385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767561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351737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2509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57557" y="286543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172774" y="1476771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57557" y="2662807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542340" y="1476771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295" y="195486"/>
            <a:ext cx="1944216" cy="4680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676775" y="195486"/>
            <a:ext cx="1944216" cy="4680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784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7544" y="360041"/>
            <a:ext cx="3168352" cy="31478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79912" y="360041"/>
            <a:ext cx="4752528" cy="1722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779912" y="2211711"/>
            <a:ext cx="147600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5418176" y="2211711"/>
            <a:ext cx="147600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7056440" y="2211711"/>
            <a:ext cx="147600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0110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79912" y="920899"/>
            <a:ext cx="4752528" cy="1722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779912" y="3147814"/>
            <a:ext cx="4752528" cy="1722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590550" y="915566"/>
            <a:ext cx="3117354" cy="3960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19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solidFill>
          <a:srgbClr val="44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0" y="339502"/>
            <a:ext cx="6084168" cy="2160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059832" y="2624708"/>
            <a:ext cx="6084168" cy="2160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3166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9552" y="1131590"/>
            <a:ext cx="4032448" cy="2160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9552" y="3291830"/>
            <a:ext cx="1656184" cy="1440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267744" y="3377692"/>
            <a:ext cx="2304256" cy="13542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646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29444" y="1203598"/>
            <a:ext cx="4104456" cy="1728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644008" y="1203598"/>
            <a:ext cx="4104456" cy="1728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4644008" y="3060973"/>
            <a:ext cx="4104456" cy="1728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29900" y="3061296"/>
            <a:ext cx="4104000" cy="1728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303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-9526" y="1183060"/>
            <a:ext cx="9153525" cy="3960440"/>
          </a:xfrm>
          <a:custGeom>
            <a:avLst/>
            <a:gdLst>
              <a:gd name="connsiteX0" fmla="*/ 0 w 9144000"/>
              <a:gd name="connsiteY0" fmla="*/ 0 h 3960440"/>
              <a:gd name="connsiteX1" fmla="*/ 9144000 w 9144000"/>
              <a:gd name="connsiteY1" fmla="*/ 0 h 3960440"/>
              <a:gd name="connsiteX2" fmla="*/ 9144000 w 9144000"/>
              <a:gd name="connsiteY2" fmla="*/ 3960440 h 3960440"/>
              <a:gd name="connsiteX3" fmla="*/ 0 w 9144000"/>
              <a:gd name="connsiteY3" fmla="*/ 3960440 h 3960440"/>
              <a:gd name="connsiteX4" fmla="*/ 0 w 9144000"/>
              <a:gd name="connsiteY4" fmla="*/ 0 h 3960440"/>
              <a:gd name="connsiteX0" fmla="*/ 0 w 9153525"/>
              <a:gd name="connsiteY0" fmla="*/ 3276600 h 3960440"/>
              <a:gd name="connsiteX1" fmla="*/ 9153525 w 9153525"/>
              <a:gd name="connsiteY1" fmla="*/ 0 h 3960440"/>
              <a:gd name="connsiteX2" fmla="*/ 9153525 w 9153525"/>
              <a:gd name="connsiteY2" fmla="*/ 3960440 h 3960440"/>
              <a:gd name="connsiteX3" fmla="*/ 9525 w 9153525"/>
              <a:gd name="connsiteY3" fmla="*/ 3960440 h 3960440"/>
              <a:gd name="connsiteX4" fmla="*/ 0 w 9153525"/>
              <a:gd name="connsiteY4" fmla="*/ 327660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3525" h="3960440">
                <a:moveTo>
                  <a:pt x="0" y="3276600"/>
                </a:moveTo>
                <a:lnTo>
                  <a:pt x="9153525" y="0"/>
                </a:lnTo>
                <a:lnTo>
                  <a:pt x="9153525" y="3960440"/>
                </a:lnTo>
                <a:lnTo>
                  <a:pt x="9525" y="3960440"/>
                </a:lnTo>
                <a:lnTo>
                  <a:pt x="0" y="3276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798" y="777418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516216" y="915566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5128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312" y="2730636"/>
            <a:ext cx="2040674" cy="203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342" y="2730636"/>
            <a:ext cx="2040674" cy="203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752750" y="2812503"/>
            <a:ext cx="1874748" cy="1273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881512" y="2812503"/>
            <a:ext cx="1874748" cy="1273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576763" y="2331939"/>
            <a:ext cx="2346784" cy="16057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7112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955214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4860032" y="987574"/>
            <a:ext cx="3168352" cy="3168352"/>
          </a:xfrm>
          <a:prstGeom prst="ellipse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860032" y="1851670"/>
            <a:ext cx="3168352" cy="10081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2859782"/>
            <a:ext cx="3168352" cy="50405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2" r:id="rId8"/>
    <p:sldLayoutId id="2147483676" r:id="rId9"/>
    <p:sldLayoutId id="2147483655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  <p:sldLayoutId id="2147483669" r:id="rId17"/>
    <p:sldLayoutId id="2147483675" r:id="rId18"/>
    <p:sldLayoutId id="2147483677" r:id="rId19"/>
    <p:sldLayoutId id="2147483656" r:id="rId2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ea typeface="맑은 고딕" pitchFamily="50" charset="-127"/>
              </a:rPr>
              <a:t>Agentic AI System Project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b="1" dirty="0"/>
              <a:t>Student: Saud Ur-Rehman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Institute: Dice Analytics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4032448" y="339502"/>
            <a:ext cx="5111552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accent2"/>
                </a:solidFill>
                <a:cs typeface="Arial" pitchFamily="34" charset="0"/>
              </a:rPr>
              <a:t>Project Goals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480374" y="1203598"/>
            <a:ext cx="5328592" cy="755937"/>
            <a:chOff x="3414539" y="1203598"/>
            <a:chExt cx="5328592" cy="755937"/>
          </a:xfrm>
        </p:grpSpPr>
        <p:grpSp>
          <p:nvGrpSpPr>
            <p:cNvPr id="13" name="Group 12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Isosceles Triangle 14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" name="Rectangle 1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3122111" y="2111871"/>
            <a:ext cx="5328592" cy="755937"/>
            <a:chOff x="3414539" y="1203598"/>
            <a:chExt cx="5328592" cy="755937"/>
          </a:xfrm>
        </p:grpSpPr>
        <p:grpSp>
          <p:nvGrpSpPr>
            <p:cNvPr id="19" name="Group 18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23" name="Rectangle 22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1" name="Rectangle 20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2763849" y="3020144"/>
            <a:ext cx="5328592" cy="755937"/>
            <a:chOff x="3414539" y="1203598"/>
            <a:chExt cx="5328592" cy="755937"/>
          </a:xfrm>
        </p:grpSpPr>
        <p:grpSp>
          <p:nvGrpSpPr>
            <p:cNvPr id="27" name="Group 26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31" name="Rectangle 30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9" name="Rectangle 28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4" name="Group 33"/>
          <p:cNvGrpSpPr/>
          <p:nvPr/>
        </p:nvGrpSpPr>
        <p:grpSpPr>
          <a:xfrm>
            <a:off x="2405587" y="3928417"/>
            <a:ext cx="5328592" cy="755937"/>
            <a:chOff x="3414539" y="1203598"/>
            <a:chExt cx="5328592" cy="755937"/>
          </a:xfrm>
        </p:grpSpPr>
        <p:grpSp>
          <p:nvGrpSpPr>
            <p:cNvPr id="35" name="Group 34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39" name="Rectangle 38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Isosceles Triangle 39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37" name="Rectangle 36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Isosceles Triangle 37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3695748" y="1260765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42756" y="2169038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89765" y="3077311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636774" y="3985584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33779" y="1402521"/>
            <a:ext cx="37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Professional Project Setup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80474" y="2314068"/>
            <a:ext cx="37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Local LLM Setup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27169" y="3225615"/>
            <a:ext cx="37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SQLite with Vector Database setup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73864" y="4137162"/>
            <a:ext cx="37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Streamlit with Langflow setup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8" name="Block Arc 14"/>
          <p:cNvSpPr/>
          <p:nvPr/>
        </p:nvSpPr>
        <p:spPr>
          <a:xfrm rot="16200000">
            <a:off x="8280667" y="1501355"/>
            <a:ext cx="340071" cy="340295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Rectangle 36"/>
          <p:cNvSpPr/>
          <p:nvPr/>
        </p:nvSpPr>
        <p:spPr>
          <a:xfrm>
            <a:off x="7188774" y="4246095"/>
            <a:ext cx="365579" cy="305595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Rounded Rectangle 27"/>
          <p:cNvSpPr/>
          <p:nvPr/>
        </p:nvSpPr>
        <p:spPr>
          <a:xfrm>
            <a:off x="7583735" y="3382582"/>
            <a:ext cx="288032" cy="22124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ounded Rectangle 25"/>
          <p:cNvSpPr/>
          <p:nvPr/>
        </p:nvSpPr>
        <p:spPr>
          <a:xfrm>
            <a:off x="7901149" y="2483804"/>
            <a:ext cx="350024" cy="25651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88579"/>
            <a:ext cx="9144000" cy="576064"/>
          </a:xfrm>
        </p:spPr>
        <p:txBody>
          <a:bodyPr/>
          <a:lstStyle/>
          <a:p>
            <a:r>
              <a:rPr lang="en-US" altLang="ko-KR" dirty="0"/>
              <a:t>State Graph</a:t>
            </a:r>
            <a:endParaRPr lang="ko-KR" altLang="en-US" dirty="0"/>
          </a:p>
        </p:txBody>
      </p:sp>
      <p:sp>
        <p:nvSpPr>
          <p:cNvPr id="8" name="Half Frame 7"/>
          <p:cNvSpPr/>
          <p:nvPr/>
        </p:nvSpPr>
        <p:spPr>
          <a:xfrm rot="10800000">
            <a:off x="4420296" y="1743087"/>
            <a:ext cx="914400" cy="91440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6F8358D-9E39-41F0-7943-7A0CF560B8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" b="2501"/>
          <a:stretch>
            <a:fillRect/>
          </a:stretch>
        </p:blipFill>
        <p:spPr>
          <a:xfrm>
            <a:off x="2159732" y="843558"/>
            <a:ext cx="4824536" cy="3822426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214063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0EB3A-FCCA-A1ED-7361-4CB7EEC4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D8AB3-F1BE-CA1C-3900-12B896B01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88579"/>
            <a:ext cx="9144000" cy="576064"/>
          </a:xfrm>
        </p:spPr>
        <p:txBody>
          <a:bodyPr/>
          <a:lstStyle/>
          <a:p>
            <a:r>
              <a:rPr lang="en-US" altLang="ko-KR" dirty="0"/>
              <a:t>1. Professional Project Structure</a:t>
            </a:r>
            <a:endParaRPr lang="ko-KR" alt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F01EC99C-87A3-5998-FF58-9C7AED791D07}"/>
              </a:ext>
            </a:extLst>
          </p:cNvPr>
          <p:cNvSpPr/>
          <p:nvPr/>
        </p:nvSpPr>
        <p:spPr>
          <a:xfrm rot="10800000">
            <a:off x="4420296" y="1743087"/>
            <a:ext cx="914400" cy="91440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96936-CA5E-D4D0-20E1-A68F9D9F5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132" y="699542"/>
            <a:ext cx="3752328" cy="44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8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D198-E14D-2B3D-B9F3-A282E7D9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065869-89C7-466A-F378-15463561CB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88579"/>
            <a:ext cx="9144000" cy="576064"/>
          </a:xfrm>
        </p:spPr>
        <p:txBody>
          <a:bodyPr/>
          <a:lstStyle/>
          <a:p>
            <a:r>
              <a:rPr lang="en-US" altLang="ko-KR" dirty="0"/>
              <a:t>2. Local LLM with Ollama</a:t>
            </a:r>
            <a:endParaRPr lang="ko-KR" alt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F66F1F4C-A2DE-253D-2474-974805C07B48}"/>
              </a:ext>
            </a:extLst>
          </p:cNvPr>
          <p:cNvSpPr/>
          <p:nvPr/>
        </p:nvSpPr>
        <p:spPr>
          <a:xfrm rot="10800000">
            <a:off x="4420296" y="1743087"/>
            <a:ext cx="914400" cy="91440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89751-B7C3-EF6C-7838-0472860B9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88297"/>
            <a:ext cx="7275231" cy="107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9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07AC-89EB-66C2-8A9D-844A5CB4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862605-AF44-BB71-D76F-ED282B6A5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88579"/>
            <a:ext cx="9144000" cy="576064"/>
          </a:xfrm>
        </p:spPr>
        <p:txBody>
          <a:bodyPr/>
          <a:lstStyle/>
          <a:p>
            <a:r>
              <a:rPr lang="en-US" altLang="ko-KR" dirty="0"/>
              <a:t>2. Local LLM with Ollama</a:t>
            </a:r>
            <a:endParaRPr lang="ko-KR" alt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939565E0-D16D-FB19-557D-6A652081CD98}"/>
              </a:ext>
            </a:extLst>
          </p:cNvPr>
          <p:cNvSpPr/>
          <p:nvPr/>
        </p:nvSpPr>
        <p:spPr>
          <a:xfrm rot="10800000">
            <a:off x="4420296" y="1743087"/>
            <a:ext cx="914400" cy="91440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4BCAE-9D96-032E-B37F-CAB318B3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99" y="1059582"/>
            <a:ext cx="7903001" cy="408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8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92DD5-0654-3AEA-1345-C728F1A6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53844-8988-0206-53F0-6F407908F4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88579"/>
            <a:ext cx="9144000" cy="576064"/>
          </a:xfrm>
        </p:spPr>
        <p:txBody>
          <a:bodyPr/>
          <a:lstStyle/>
          <a:p>
            <a:r>
              <a:rPr lang="en-US" altLang="ko-KR" dirty="0"/>
              <a:t>3. Vector DB</a:t>
            </a:r>
            <a:endParaRPr lang="ko-KR" alt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541D4FE-6C09-F3EA-9EBD-A0D80FD613C4}"/>
              </a:ext>
            </a:extLst>
          </p:cNvPr>
          <p:cNvSpPr/>
          <p:nvPr/>
        </p:nvSpPr>
        <p:spPr>
          <a:xfrm rot="10800000">
            <a:off x="4420296" y="1743087"/>
            <a:ext cx="914400" cy="91440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27DFF-C53C-45ED-D5CA-487A3369E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843558"/>
            <a:ext cx="8280920" cy="429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9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4A05-68D0-BF21-7EEF-6762C0D3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91588D-0A2E-34A0-5410-84CD4B399E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88579"/>
            <a:ext cx="9144000" cy="576064"/>
          </a:xfrm>
        </p:spPr>
        <p:txBody>
          <a:bodyPr/>
          <a:lstStyle/>
          <a:p>
            <a:r>
              <a:rPr lang="en-US" altLang="ko-KR" dirty="0"/>
              <a:t>4. Streamlit UI</a:t>
            </a:r>
            <a:endParaRPr lang="ko-KR" alt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E7307309-6E2A-0370-9B45-9B9D77A8FCC9}"/>
              </a:ext>
            </a:extLst>
          </p:cNvPr>
          <p:cNvSpPr/>
          <p:nvPr/>
        </p:nvSpPr>
        <p:spPr>
          <a:xfrm rot="10800000">
            <a:off x="4420296" y="1743087"/>
            <a:ext cx="914400" cy="91440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991A6-5091-D6A0-A56F-7C2312283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88297"/>
            <a:ext cx="7275231" cy="10788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D9BE95-9E6D-A17A-8520-49F8B6BB9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84" y="893153"/>
            <a:ext cx="816323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05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5CAC-5D05-75CF-B285-8F60339A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06F032-D154-7EA4-D5A6-5EACD28339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Commands</a:t>
            </a:r>
          </a:p>
        </p:txBody>
      </p:sp>
    </p:spTree>
    <p:extLst>
      <p:ext uri="{BB962C8B-B14F-4D97-AF65-F5344CB8AC3E}">
        <p14:creationId xmlns:p14="http://schemas.microsoft.com/office/powerpoint/2010/main" val="1484228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Project Commands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95736" y="1197160"/>
            <a:ext cx="181623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444342"/>
                </a:solidFill>
                <a:cs typeface="Arial" pitchFamily="34" charset="0"/>
              </a:rPr>
              <a:t>Commands</a:t>
            </a:r>
            <a:endParaRPr lang="ko-KR" altLang="en-US" sz="1600" b="1" dirty="0">
              <a:solidFill>
                <a:srgbClr val="444342"/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85851" y="1535714"/>
            <a:ext cx="36000" cy="36077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78052" y="1197160"/>
            <a:ext cx="47864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uv run python -m src.ingest_knowledge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uv run python graph_gen.py 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uv run streamlit run src/app.py 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err="1">
                <a:solidFill>
                  <a:schemeClr val="bg1"/>
                </a:solidFill>
                <a:cs typeface="Arial" pitchFamily="34" charset="0"/>
              </a:rPr>
              <a:t>uvx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langflow run --host 127.0.0.1 --port 7860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71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Working Demo</a:t>
            </a:r>
          </a:p>
        </p:txBody>
      </p: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FC308-27D5-22CE-C85B-4566897E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182810-E347-3ED3-F11F-8C1969E481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Repository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9CC1D-5ACC-B09F-2B00-5A3437451D17}"/>
              </a:ext>
            </a:extLst>
          </p:cNvPr>
          <p:cNvSpPr txBox="1"/>
          <p:nvPr/>
        </p:nvSpPr>
        <p:spPr>
          <a:xfrm>
            <a:off x="2411760" y="4083918"/>
            <a:ext cx="561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https://github.com/saud4041/medical-agentic-system</a:t>
            </a:r>
          </a:p>
        </p:txBody>
      </p:sp>
    </p:spTree>
    <p:extLst>
      <p:ext uri="{BB962C8B-B14F-4D97-AF65-F5344CB8AC3E}">
        <p14:creationId xmlns:p14="http://schemas.microsoft.com/office/powerpoint/2010/main" val="3925458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C0A2-B635-2003-8131-91174D72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A9744D-2E65-118D-FDD4-977EC4DD4A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Further Improvements</a:t>
            </a:r>
          </a:p>
        </p:txBody>
      </p:sp>
    </p:spTree>
    <p:extLst>
      <p:ext uri="{BB962C8B-B14F-4D97-AF65-F5344CB8AC3E}">
        <p14:creationId xmlns:p14="http://schemas.microsoft.com/office/powerpoint/2010/main" val="2621170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AB0B-A04B-1EFB-9615-2D988BEA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8BC639-1027-12DF-850D-387444372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Further Improvements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A2666-37EB-657C-3AD8-7B3788E6B613}"/>
              </a:ext>
            </a:extLst>
          </p:cNvPr>
          <p:cNvSpPr txBox="1"/>
          <p:nvPr/>
        </p:nvSpPr>
        <p:spPr>
          <a:xfrm>
            <a:off x="2195736" y="1197160"/>
            <a:ext cx="181623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444342"/>
                </a:solidFill>
                <a:cs typeface="Arial" pitchFamily="34" charset="0"/>
              </a:rPr>
              <a:t>Improvements</a:t>
            </a:r>
            <a:endParaRPr lang="ko-KR" altLang="en-US" sz="1600" b="1" dirty="0">
              <a:solidFill>
                <a:srgbClr val="444342"/>
              </a:solidFill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B7FFD0-A01F-6D16-4A06-C5C5AAFD9255}"/>
              </a:ext>
            </a:extLst>
          </p:cNvPr>
          <p:cNvSpPr/>
          <p:nvPr/>
        </p:nvSpPr>
        <p:spPr>
          <a:xfrm>
            <a:off x="3085851" y="1535714"/>
            <a:ext cx="36000" cy="36077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55D1C-603F-0FC5-9A70-0BB05A6648B5}"/>
              </a:ext>
            </a:extLst>
          </p:cNvPr>
          <p:cNvSpPr txBox="1"/>
          <p:nvPr/>
        </p:nvSpPr>
        <p:spPr>
          <a:xfrm>
            <a:off x="4153452" y="915566"/>
            <a:ext cx="47864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1. Cloud based LLM like ChatGPT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2. Caching &amp; Rate Limiting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3. FastAPI &amp; NextJS Integration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4. Pg_Vector with PostgreSQL RDBMS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5. Agent Harness &amp; Agentic RAG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6. MCP &amp; A2A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7. Eval and Monitoring 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8. ReACT 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0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212B-5DC2-63FD-A4F4-B728CFF1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E7AF42-5CB6-D164-E503-0F36ACCF2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26699465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169</Words>
  <Application>Microsoft Office PowerPoint</Application>
  <PresentationFormat>On-screen Show (16:9)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맑은 고딕</vt:lpstr>
      <vt:lpstr>Arial</vt:lpstr>
      <vt:lpstr>Arial Unicode MS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hp</cp:lastModifiedBy>
  <cp:revision>106</cp:revision>
  <dcterms:created xsi:type="dcterms:W3CDTF">2016-12-05T23:26:54Z</dcterms:created>
  <dcterms:modified xsi:type="dcterms:W3CDTF">2026-10-10T04:22:27Z</dcterms:modified>
</cp:coreProperties>
</file>